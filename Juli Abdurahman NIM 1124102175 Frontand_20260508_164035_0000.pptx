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Poppins Italics" charset="1" panose="00000500000000000000"/>
      <p:regular r:id="rId25"/>
    </p:embeddedFont>
    <p:embeddedFont>
      <p:font typeface="Montserrat Ultra-Bold" charset="1" panose="00000900000000000000"/>
      <p:regular r:id="rId26"/>
    </p:embeddedFont>
    <p:embeddedFont>
      <p:font typeface="Montserrat Ultra-Bold Italics" charset="1" panose="00000900000000000000"/>
      <p:regular r:id="rId27"/>
    </p:embeddedFont>
    <p:embeddedFont>
      <p:font typeface="Montserrat" charset="1" panose="00000500000000000000"/>
      <p:regular r:id="rId28"/>
    </p:embeddedFont>
    <p:embeddedFont>
      <p:font typeface="Poppins Bold Italics" charset="1" panose="00000800000000000000"/>
      <p:regular r:id="rId29"/>
    </p:embeddedFont>
    <p:embeddedFont>
      <p:font typeface="Poppins Light Italics" charset="1" panose="000004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0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21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6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2.png" Type="http://schemas.openxmlformats.org/officeDocument/2006/relationships/image"/><Relationship Id="rId12" Target="../media/image35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6.png" Type="http://schemas.openxmlformats.org/officeDocument/2006/relationships/image"/><Relationship Id="rId8" Target="../media/image34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8.png" Type="http://schemas.openxmlformats.org/officeDocument/2006/relationships/image"/><Relationship Id="rId8" Target="../media/image36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8.png" Type="http://schemas.openxmlformats.org/officeDocument/2006/relationships/image"/><Relationship Id="rId8" Target="../media/image37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8.png" Type="http://schemas.openxmlformats.org/officeDocument/2006/relationships/image"/><Relationship Id="rId8" Target="../media/image33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00482" y="1392007"/>
            <a:ext cx="7502985" cy="7502985"/>
          </a:xfrm>
          <a:custGeom>
            <a:avLst/>
            <a:gdLst/>
            <a:ahLst/>
            <a:cxnLst/>
            <a:rect r="r" b="b" t="t" l="l"/>
            <a:pathLst>
              <a:path h="7502985" w="7502985">
                <a:moveTo>
                  <a:pt x="0" y="0"/>
                </a:moveTo>
                <a:lnTo>
                  <a:pt x="7502986" y="0"/>
                </a:lnTo>
                <a:lnTo>
                  <a:pt x="7502986" y="7502986"/>
                </a:lnTo>
                <a:lnTo>
                  <a:pt x="0" y="7502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67064" y="3697409"/>
            <a:ext cx="995191" cy="995191"/>
          </a:xfrm>
          <a:custGeom>
            <a:avLst/>
            <a:gdLst/>
            <a:ahLst/>
            <a:cxnLst/>
            <a:rect r="r" b="b" t="t" l="l"/>
            <a:pathLst>
              <a:path h="995191" w="995191">
                <a:moveTo>
                  <a:pt x="0" y="0"/>
                </a:moveTo>
                <a:lnTo>
                  <a:pt x="995191" y="0"/>
                </a:lnTo>
                <a:lnTo>
                  <a:pt x="995191" y="995191"/>
                </a:lnTo>
                <a:lnTo>
                  <a:pt x="0" y="995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58935" y="9357935"/>
            <a:ext cx="575139" cy="57513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87138" y="2466944"/>
            <a:ext cx="385661" cy="3856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959474"/>
            <a:ext cx="8115300" cy="136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UJIAN TENGAH SEMESTER GENAP TAHUN 2025/2026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3424" y="4307774"/>
            <a:ext cx="7744569" cy="83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 spc="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TEMA</a:t>
            </a:r>
            <a:r>
              <a:rPr lang="en-US" sz="1600" spc="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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200">
                <a:solidFill>
                  <a:srgbClr val="002D6F"/>
                </a:solidFill>
                <a:latin typeface="Poppins"/>
                <a:ea typeface="Poppins"/>
                <a:cs typeface="Poppins"/>
                <a:sym typeface="Poppins"/>
              </a:rPr>
              <a:t>Pengembangan Frontend Aplikasi Pariwisata Berbasis React JS (Single Page Application)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887407"/>
            <a:ext cx="5609886" cy="248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Hari/Tanggal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Mata Kuliah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Dosen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Ruang/Jam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Jurusan /Kelas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Waktu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Jenis Ujian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839757" y="-1153391"/>
            <a:ext cx="19315501" cy="2182091"/>
            <a:chOff x="0" y="0"/>
            <a:chExt cx="25754001" cy="290945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208108" y="5887407"/>
            <a:ext cx="5609886" cy="248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Selasa/5 Mei 2026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Frontend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Arif Hadi Sumitro, M.Kom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Lab RPL/Sesi 1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S1-TI/SM4.1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120 Menit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Project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8484244"/>
            <a:ext cx="5609886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Nama</a:t>
            </a:r>
          </a:p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NIM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Nama Project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08108" y="8484244"/>
            <a:ext cx="5609886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: Juli Abdurahman </a:t>
            </a:r>
          </a:p>
          <a:p>
            <a:pPr algn="just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: 1124102175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: Website Jasa Desain &amp; Digital Printing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4481" y="1646177"/>
            <a:ext cx="5060743" cy="3956423"/>
            <a:chOff x="0" y="0"/>
            <a:chExt cx="1332870" cy="10420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2870" cy="1042021"/>
            </a:xfrm>
            <a:custGeom>
              <a:avLst/>
              <a:gdLst/>
              <a:ahLst/>
              <a:cxnLst/>
              <a:rect r="r" b="b" t="t" l="l"/>
              <a:pathLst>
                <a:path h="1042021" w="1332870">
                  <a:moveTo>
                    <a:pt x="0" y="0"/>
                  </a:moveTo>
                  <a:lnTo>
                    <a:pt x="1332870" y="0"/>
                  </a:lnTo>
                  <a:lnTo>
                    <a:pt x="1332870" y="1042021"/>
                  </a:lnTo>
                  <a:lnTo>
                    <a:pt x="0" y="1042021"/>
                  </a:lnTo>
                  <a:close/>
                </a:path>
              </a:pathLst>
            </a:custGeom>
            <a:solidFill>
              <a:srgbClr val="002D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332870" cy="1099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33736" y="2921931"/>
            <a:ext cx="1033857" cy="103385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268460" y="5143500"/>
            <a:ext cx="459099" cy="45909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21531" y="1646177"/>
            <a:ext cx="684062" cy="68406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839757" y="-1153391"/>
            <a:ext cx="19315501" cy="2182091"/>
            <a:chOff x="0" y="0"/>
            <a:chExt cx="25754001" cy="290945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9815927" y="2330239"/>
            <a:ext cx="6534348" cy="5246370"/>
            <a:chOff x="0" y="0"/>
            <a:chExt cx="7467600" cy="59956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0" t="-41" r="0" b="-41"/>
              </a:stretch>
            </a:blipFill>
          </p:spPr>
        </p:sp>
      </p:grpSp>
      <p:grpSp>
        <p:nvGrpSpPr>
          <p:cNvPr name="Group 54" id="54"/>
          <p:cNvGrpSpPr>
            <a:grpSpLocks noChangeAspect="true"/>
          </p:cNvGrpSpPr>
          <p:nvPr/>
        </p:nvGrpSpPr>
        <p:grpSpPr>
          <a:xfrm rot="0">
            <a:off x="4914129" y="4661105"/>
            <a:ext cx="8014804" cy="4597195"/>
            <a:chOff x="0" y="0"/>
            <a:chExt cx="7981950" cy="45783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8"/>
              <a:stretch>
                <a:fillRect l="-5657" t="0" r="-5657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51666" y="2019804"/>
            <a:ext cx="5202117" cy="73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5"/>
              </a:lnSpc>
              <a:spcBef>
                <a:spcPct val="0"/>
              </a:spcBef>
            </a:pPr>
            <a:r>
              <a:rPr lang="en-US" sz="333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WEBSITE RAHMAN EDITING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80239" y="3013344"/>
            <a:ext cx="4015617" cy="213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Website Rahman Editing dibuat untuk menampilkan layanan desain grafis dan digital printing secara modern dan interaktif menggunakan React JS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620" y="2677338"/>
            <a:ext cx="16716680" cy="4932324"/>
            <a:chOff x="0" y="0"/>
            <a:chExt cx="4402747" cy="12990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02747" cy="1299048"/>
            </a:xfrm>
            <a:custGeom>
              <a:avLst/>
              <a:gdLst/>
              <a:ahLst/>
              <a:cxnLst/>
              <a:rect r="r" b="b" t="t" l="l"/>
              <a:pathLst>
                <a:path h="1299048" w="4402747">
                  <a:moveTo>
                    <a:pt x="0" y="0"/>
                  </a:moveTo>
                  <a:lnTo>
                    <a:pt x="4402747" y="0"/>
                  </a:lnTo>
                  <a:lnTo>
                    <a:pt x="4402747" y="1299048"/>
                  </a:lnTo>
                  <a:lnTo>
                    <a:pt x="0" y="129904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D6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402747" cy="1356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16647320" y="4882143"/>
            <a:ext cx="314935" cy="522713"/>
          </a:xfrm>
          <a:custGeom>
            <a:avLst/>
            <a:gdLst/>
            <a:ahLst/>
            <a:cxnLst/>
            <a:rect r="r" b="b" t="t" l="l"/>
            <a:pathLst>
              <a:path h="522713" w="314935">
                <a:moveTo>
                  <a:pt x="314935" y="0"/>
                </a:moveTo>
                <a:lnTo>
                  <a:pt x="0" y="0"/>
                </a:lnTo>
                <a:lnTo>
                  <a:pt x="0" y="522714"/>
                </a:lnTo>
                <a:lnTo>
                  <a:pt x="314935" y="522714"/>
                </a:lnTo>
                <a:lnTo>
                  <a:pt x="3149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47139" y="7302165"/>
            <a:ext cx="614993" cy="61499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876557" y="2539177"/>
            <a:ext cx="2720294" cy="6356958"/>
          </a:xfrm>
          <a:custGeom>
            <a:avLst/>
            <a:gdLst/>
            <a:ahLst/>
            <a:cxnLst/>
            <a:rect r="r" b="b" t="t" l="l"/>
            <a:pathLst>
              <a:path h="6356958" w="2720294">
                <a:moveTo>
                  <a:pt x="0" y="0"/>
                </a:moveTo>
                <a:lnTo>
                  <a:pt x="2720294" y="0"/>
                </a:lnTo>
                <a:lnTo>
                  <a:pt x="27202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76" t="0" r="-315168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876557" y="8886610"/>
            <a:ext cx="8052959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Lorem ipsum dolor sit amet, consectetur adipiscing elit, sed do eiusmod tempor incididunt ut labore et dolore magna aliqua. Sit amet purus gravida quis blandit turpis.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2620" y="1814265"/>
            <a:ext cx="9378307" cy="67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STRUKTUR FOLDER PROJECT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3871626" y="2539177"/>
            <a:ext cx="2720294" cy="6356958"/>
          </a:xfrm>
          <a:custGeom>
            <a:avLst/>
            <a:gdLst/>
            <a:ahLst/>
            <a:cxnLst/>
            <a:rect r="r" b="b" t="t" l="l"/>
            <a:pathLst>
              <a:path h="6356958" w="2720294">
                <a:moveTo>
                  <a:pt x="0" y="0"/>
                </a:moveTo>
                <a:lnTo>
                  <a:pt x="2720294" y="0"/>
                </a:lnTo>
                <a:lnTo>
                  <a:pt x="27202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53" t="0" r="-314692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868145" y="2539177"/>
            <a:ext cx="2720294" cy="6356958"/>
          </a:xfrm>
          <a:custGeom>
            <a:avLst/>
            <a:gdLst/>
            <a:ahLst/>
            <a:cxnLst/>
            <a:rect r="r" b="b" t="t" l="l"/>
            <a:pathLst>
              <a:path h="6356958" w="2720294">
                <a:moveTo>
                  <a:pt x="0" y="0"/>
                </a:moveTo>
                <a:lnTo>
                  <a:pt x="2720293" y="0"/>
                </a:lnTo>
                <a:lnTo>
                  <a:pt x="272029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315645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864663" y="2539177"/>
            <a:ext cx="2720294" cy="6356958"/>
          </a:xfrm>
          <a:custGeom>
            <a:avLst/>
            <a:gdLst/>
            <a:ahLst/>
            <a:cxnLst/>
            <a:rect r="r" b="b" t="t" l="l"/>
            <a:pathLst>
              <a:path h="6356958" w="2720294">
                <a:moveTo>
                  <a:pt x="0" y="0"/>
                </a:moveTo>
                <a:lnTo>
                  <a:pt x="2720294" y="0"/>
                </a:lnTo>
                <a:lnTo>
                  <a:pt x="27202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315645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2861182" y="2539177"/>
            <a:ext cx="2720294" cy="6356958"/>
          </a:xfrm>
          <a:custGeom>
            <a:avLst/>
            <a:gdLst/>
            <a:ahLst/>
            <a:cxnLst/>
            <a:rect r="r" b="b" t="t" l="l"/>
            <a:pathLst>
              <a:path h="6356958" w="2720294">
                <a:moveTo>
                  <a:pt x="0" y="0"/>
                </a:moveTo>
                <a:lnTo>
                  <a:pt x="2720293" y="0"/>
                </a:lnTo>
                <a:lnTo>
                  <a:pt x="272029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14" t="0" r="-31543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3707" y="8114723"/>
            <a:ext cx="614993" cy="6149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520489" y="3225028"/>
            <a:ext cx="8052959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assets/images digunakan untuk menyimpan seluruh gambar website seperti logo, icon sosial media, dan gambar portofolio.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15645" b="-79478"/>
            </a:stretch>
          </a:blipFill>
        </p:spPr>
      </p:sp>
      <p:sp>
        <p:nvSpPr>
          <p:cNvPr name="Freeform 51" id="51"/>
          <p:cNvSpPr/>
          <p:nvPr/>
        </p:nvSpPr>
        <p:spPr>
          <a:xfrm>
            <a:off x="1985653" y="3702101"/>
            <a:ext cx="2124371" cy="288447"/>
          </a:xfrm>
          <a:custGeom>
            <a:avLst/>
            <a:gdLst/>
            <a:ahLst/>
            <a:cxnLst/>
            <a:rect r="r" b="b" t="t" l="l"/>
            <a:pathLst>
              <a:path h="288447" w="2124371">
                <a:moveTo>
                  <a:pt x="0" y="0"/>
                </a:moveTo>
                <a:lnTo>
                  <a:pt x="917962" y="0"/>
                </a:lnTo>
                <a:cubicBezTo>
                  <a:pt x="956212" y="0"/>
                  <a:pt x="992896" y="15195"/>
                  <a:pt x="1019943" y="42242"/>
                </a:cubicBezTo>
                <a:cubicBezTo>
                  <a:pt x="1046990" y="69289"/>
                  <a:pt x="1062185" y="105973"/>
                  <a:pt x="1062185" y="144223"/>
                </a:cubicBezTo>
                <a:lnTo>
                  <a:pt x="1062185" y="144223"/>
                </a:lnTo>
                <a:cubicBezTo>
                  <a:pt x="1062185" y="182474"/>
                  <a:pt x="1077380" y="219157"/>
                  <a:pt x="1104427" y="246205"/>
                </a:cubicBezTo>
                <a:cubicBezTo>
                  <a:pt x="1131475" y="273252"/>
                  <a:pt x="1168158" y="288447"/>
                  <a:pt x="1206409" y="288447"/>
                </a:cubicBezTo>
                <a:lnTo>
                  <a:pt x="2124371" y="288447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>
            <a:off x="4110024" y="3052877"/>
            <a:ext cx="6790732" cy="1458171"/>
          </a:xfrm>
          <a:custGeom>
            <a:avLst/>
            <a:gdLst/>
            <a:ahLst/>
            <a:cxnLst/>
            <a:rect r="r" b="b" t="t" l="l"/>
            <a:pathLst>
              <a:path h="1458171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1229571"/>
                </a:lnTo>
                <a:cubicBezTo>
                  <a:pt x="0" y="1355824"/>
                  <a:pt x="102348" y="1458171"/>
                  <a:pt x="228600" y="1458171"/>
                </a:cubicBezTo>
                <a:lnTo>
                  <a:pt x="6710870" y="1458171"/>
                </a:lnTo>
                <a:cubicBezTo>
                  <a:pt x="6754976" y="1458171"/>
                  <a:pt x="6790732" y="1422416"/>
                  <a:pt x="6790732" y="1378310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343245" y="4839768"/>
            <a:ext cx="8407448" cy="4726881"/>
          </a:xfrm>
          <a:custGeom>
            <a:avLst/>
            <a:gdLst/>
            <a:ahLst/>
            <a:cxnLst/>
            <a:rect r="r" b="b" t="t" l="l"/>
            <a:pathLst>
              <a:path h="4726881" w="8407448">
                <a:moveTo>
                  <a:pt x="0" y="0"/>
                </a:moveTo>
                <a:lnTo>
                  <a:pt x="8407448" y="0"/>
                </a:lnTo>
                <a:lnTo>
                  <a:pt x="8407448" y="4726882"/>
                </a:lnTo>
                <a:lnTo>
                  <a:pt x="0" y="4726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13707" y="1963288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7" y="0"/>
                </a:lnTo>
                <a:lnTo>
                  <a:pt x="559157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02870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assets/images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512476" y="3845983"/>
            <a:ext cx="11301259" cy="4746529"/>
          </a:xfrm>
          <a:custGeom>
            <a:avLst/>
            <a:gdLst/>
            <a:ahLst/>
            <a:cxnLst/>
            <a:rect r="r" b="b" t="t" l="l"/>
            <a:pathLst>
              <a:path h="4746529" w="11301259">
                <a:moveTo>
                  <a:pt x="0" y="0"/>
                </a:moveTo>
                <a:lnTo>
                  <a:pt x="11301259" y="0"/>
                </a:lnTo>
                <a:lnTo>
                  <a:pt x="11301259" y="4746529"/>
                </a:lnTo>
                <a:lnTo>
                  <a:pt x="0" y="47465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129946" y="5160950"/>
            <a:ext cx="8407448" cy="1236162"/>
          </a:xfrm>
          <a:custGeom>
            <a:avLst/>
            <a:gdLst/>
            <a:ahLst/>
            <a:cxnLst/>
            <a:rect r="r" b="b" t="t" l="l"/>
            <a:pathLst>
              <a:path h="1236162" w="8407448">
                <a:moveTo>
                  <a:pt x="0" y="0"/>
                </a:moveTo>
                <a:lnTo>
                  <a:pt x="8407448" y="0"/>
                </a:lnTo>
                <a:lnTo>
                  <a:pt x="8407448" y="1236162"/>
                </a:lnTo>
                <a:lnTo>
                  <a:pt x="0" y="12361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82383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542620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Navbar. 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1734365" y="6464711"/>
            <a:ext cx="4134438" cy="2410459"/>
          </a:xfrm>
          <a:custGeom>
            <a:avLst/>
            <a:gdLst/>
            <a:ahLst/>
            <a:cxnLst/>
            <a:rect r="r" b="b" t="t" l="l"/>
            <a:pathLst>
              <a:path h="2410459" w="4134438">
                <a:moveTo>
                  <a:pt x="0" y="2410459"/>
                </a:moveTo>
                <a:lnTo>
                  <a:pt x="1104095" y="2410459"/>
                </a:lnTo>
                <a:cubicBezTo>
                  <a:pt x="1164724" y="2410459"/>
                  <a:pt x="1222869" y="2386374"/>
                  <a:pt x="1265739" y="2343503"/>
                </a:cubicBezTo>
                <a:cubicBezTo>
                  <a:pt x="1308611" y="2300633"/>
                  <a:pt x="1332695" y="2242488"/>
                  <a:pt x="1332695" y="2181859"/>
                </a:cubicBezTo>
                <a:lnTo>
                  <a:pt x="1332695" y="618201"/>
                </a:lnTo>
                <a:cubicBezTo>
                  <a:pt x="1332695" y="491949"/>
                  <a:pt x="1435042" y="389601"/>
                  <a:pt x="1561295" y="389601"/>
                </a:cubicBezTo>
                <a:lnTo>
                  <a:pt x="3939638" y="389601"/>
                </a:lnTo>
                <a:cubicBezTo>
                  <a:pt x="4047224" y="389601"/>
                  <a:pt x="4134438" y="302386"/>
                  <a:pt x="4134438" y="194800"/>
                </a:cubicBezTo>
                <a:lnTo>
                  <a:pt x="4134438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542620" y="1948408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210037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10" y="0"/>
                </a:lnTo>
                <a:lnTo>
                  <a:pt x="271310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200696" y="1799385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58708" y="8435609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Navbar.jsx digunakan sebagai navigasi utama website untuk berpindah antar halaman menggunakan React Router DOM.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565411" y="3908407"/>
            <a:ext cx="11195387" cy="5247838"/>
          </a:xfrm>
          <a:custGeom>
            <a:avLst/>
            <a:gdLst/>
            <a:ahLst/>
            <a:cxnLst/>
            <a:rect r="r" b="b" t="t" l="l"/>
            <a:pathLst>
              <a:path h="5247838" w="11195387">
                <a:moveTo>
                  <a:pt x="0" y="0"/>
                </a:moveTo>
                <a:lnTo>
                  <a:pt x="11195388" y="0"/>
                </a:lnTo>
                <a:lnTo>
                  <a:pt x="11195388" y="5247838"/>
                </a:lnTo>
                <a:lnTo>
                  <a:pt x="0" y="52478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075736" y="6015179"/>
            <a:ext cx="6212264" cy="2632721"/>
          </a:xfrm>
          <a:custGeom>
            <a:avLst/>
            <a:gdLst/>
            <a:ahLst/>
            <a:cxnLst/>
            <a:rect r="r" b="b" t="t" l="l"/>
            <a:pathLst>
              <a:path h="2632721" w="6212264">
                <a:moveTo>
                  <a:pt x="0" y="0"/>
                </a:moveTo>
                <a:lnTo>
                  <a:pt x="6212264" y="0"/>
                </a:lnTo>
                <a:lnTo>
                  <a:pt x="6212264" y="2632721"/>
                </a:lnTo>
                <a:lnTo>
                  <a:pt x="0" y="26327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332" r="0" b="-16332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922535" y="698998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Hero.jsx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1920589" y="8349278"/>
            <a:ext cx="3261279" cy="1264167"/>
          </a:xfrm>
          <a:custGeom>
            <a:avLst/>
            <a:gdLst/>
            <a:ahLst/>
            <a:cxnLst/>
            <a:rect r="r" b="b" t="t" l="l"/>
            <a:pathLst>
              <a:path h="1264167" w="3261279">
                <a:moveTo>
                  <a:pt x="0" y="806967"/>
                </a:moveTo>
                <a:lnTo>
                  <a:pt x="0" y="1035567"/>
                </a:lnTo>
                <a:cubicBezTo>
                  <a:pt x="0" y="1096196"/>
                  <a:pt x="24085" y="1154341"/>
                  <a:pt x="66956" y="1197211"/>
                </a:cubicBezTo>
                <a:cubicBezTo>
                  <a:pt x="109826" y="1240082"/>
                  <a:pt x="167972" y="1264167"/>
                  <a:pt x="228600" y="1264167"/>
                </a:cubicBezTo>
                <a:lnTo>
                  <a:pt x="3032680" y="1264167"/>
                </a:lnTo>
                <a:cubicBezTo>
                  <a:pt x="3093309" y="1264167"/>
                  <a:pt x="3151454" y="1240082"/>
                  <a:pt x="3194324" y="1197211"/>
                </a:cubicBezTo>
                <a:cubicBezTo>
                  <a:pt x="3237196" y="1154341"/>
                  <a:pt x="3261280" y="1096196"/>
                  <a:pt x="3261280" y="1035567"/>
                </a:cubicBezTo>
                <a:lnTo>
                  <a:pt x="326128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1280440" y="1817164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681406" y="8864645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Navbar.jsx digunakan sebagai navigasi utama website untuk berpindah antar halaman menggunakan React Router DOM.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542620" y="708660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542620" y="1989261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0444000" y="4513250"/>
            <a:ext cx="6212264" cy="2632721"/>
          </a:xfrm>
          <a:custGeom>
            <a:avLst/>
            <a:gdLst/>
            <a:ahLst/>
            <a:cxnLst/>
            <a:rect r="r" b="b" t="t" l="l"/>
            <a:pathLst>
              <a:path h="2632721" w="6212264">
                <a:moveTo>
                  <a:pt x="0" y="0"/>
                </a:moveTo>
                <a:lnTo>
                  <a:pt x="6212265" y="0"/>
                </a:lnTo>
                <a:lnTo>
                  <a:pt x="6212265" y="2632721"/>
                </a:lnTo>
                <a:lnTo>
                  <a:pt x="0" y="26327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332" r="0" b="-16332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357462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Services.jsx</a:t>
            </a:r>
          </a:p>
        </p:txBody>
      </p:sp>
      <p:sp>
        <p:nvSpPr>
          <p:cNvPr name="Freeform 52" id="52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>
            <a:off x="11518836" y="6890333"/>
            <a:ext cx="4831438" cy="1847942"/>
          </a:xfrm>
          <a:custGeom>
            <a:avLst/>
            <a:gdLst/>
            <a:ahLst/>
            <a:cxnLst/>
            <a:rect r="r" b="b" t="t" l="l"/>
            <a:pathLst>
              <a:path h="1847942" w="4831438">
                <a:moveTo>
                  <a:pt x="4831439" y="1847942"/>
                </a:moveTo>
                <a:lnTo>
                  <a:pt x="228600" y="1847942"/>
                </a:lnTo>
                <a:cubicBezTo>
                  <a:pt x="102348" y="1847942"/>
                  <a:pt x="0" y="1745594"/>
                  <a:pt x="0" y="1619342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2942605" y="3945663"/>
            <a:ext cx="8383401" cy="5889339"/>
          </a:xfrm>
          <a:custGeom>
            <a:avLst/>
            <a:gdLst/>
            <a:ahLst/>
            <a:cxnLst/>
            <a:rect r="r" b="b" t="t" l="l"/>
            <a:pathLst>
              <a:path h="5889339" w="8383401">
                <a:moveTo>
                  <a:pt x="0" y="0"/>
                </a:moveTo>
                <a:lnTo>
                  <a:pt x="8383401" y="0"/>
                </a:lnTo>
                <a:lnTo>
                  <a:pt x="8383401" y="5889339"/>
                </a:lnTo>
                <a:lnTo>
                  <a:pt x="0" y="58893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301906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711667" y="7424103"/>
            <a:ext cx="4341563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Services.jsx digunakan untuk menampilkan daftar layanan desain grafis dan digital printing.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86152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10" y="0"/>
                </a:lnTo>
                <a:lnTo>
                  <a:pt x="271310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581189" y="3908407"/>
            <a:ext cx="11301259" cy="4181466"/>
          </a:xfrm>
          <a:custGeom>
            <a:avLst/>
            <a:gdLst/>
            <a:ahLst/>
            <a:cxnLst/>
            <a:rect r="r" b="b" t="t" l="l"/>
            <a:pathLst>
              <a:path h="4181466" w="11301259">
                <a:moveTo>
                  <a:pt x="0" y="0"/>
                </a:moveTo>
                <a:lnTo>
                  <a:pt x="11301259" y="0"/>
                </a:lnTo>
                <a:lnTo>
                  <a:pt x="11301259" y="4181466"/>
                </a:lnTo>
                <a:lnTo>
                  <a:pt x="0" y="4181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444000" y="4513250"/>
            <a:ext cx="6212264" cy="2977528"/>
          </a:xfrm>
          <a:custGeom>
            <a:avLst/>
            <a:gdLst/>
            <a:ahLst/>
            <a:cxnLst/>
            <a:rect r="r" b="b" t="t" l="l"/>
            <a:pathLst>
              <a:path h="2977528" w="6212264">
                <a:moveTo>
                  <a:pt x="0" y="0"/>
                </a:moveTo>
                <a:lnTo>
                  <a:pt x="6212265" y="0"/>
                </a:lnTo>
                <a:lnTo>
                  <a:pt x="6212265" y="2977528"/>
                </a:lnTo>
                <a:lnTo>
                  <a:pt x="0" y="2977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4398" r="0" b="-2818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204573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Crd.jsx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1180097" y="7490778"/>
            <a:ext cx="5170178" cy="2447727"/>
          </a:xfrm>
          <a:custGeom>
            <a:avLst/>
            <a:gdLst/>
            <a:ahLst/>
            <a:cxnLst/>
            <a:rect r="r" b="b" t="t" l="l"/>
            <a:pathLst>
              <a:path h="2447727" w="5170178">
                <a:moveTo>
                  <a:pt x="5170178" y="1247497"/>
                </a:moveTo>
                <a:lnTo>
                  <a:pt x="5170178" y="2219127"/>
                </a:lnTo>
                <a:cubicBezTo>
                  <a:pt x="5170178" y="2279756"/>
                  <a:pt x="5146094" y="2337901"/>
                  <a:pt x="5103222" y="2380771"/>
                </a:cubicBezTo>
                <a:cubicBezTo>
                  <a:pt x="5060352" y="2423642"/>
                  <a:pt x="5002207" y="2447727"/>
                  <a:pt x="4941578" y="2447727"/>
                </a:cubicBezTo>
                <a:lnTo>
                  <a:pt x="228600" y="2447727"/>
                </a:lnTo>
                <a:cubicBezTo>
                  <a:pt x="167971" y="2447727"/>
                  <a:pt x="109826" y="2423642"/>
                  <a:pt x="66955" y="2380771"/>
                </a:cubicBezTo>
                <a:cubicBezTo>
                  <a:pt x="24084" y="2337901"/>
                  <a:pt x="0" y="2279756"/>
                  <a:pt x="0" y="2219127"/>
                </a:cubicBezTo>
                <a:lnTo>
                  <a:pt x="0" y="264136"/>
                </a:lnTo>
                <a:cubicBezTo>
                  <a:pt x="0" y="244510"/>
                  <a:pt x="15910" y="228600"/>
                  <a:pt x="35535" y="228600"/>
                </a:cubicBezTo>
                <a:lnTo>
                  <a:pt x="35535" y="228600"/>
                </a:lnTo>
                <a:cubicBezTo>
                  <a:pt x="55161" y="228600"/>
                  <a:pt x="71071" y="212691"/>
                  <a:pt x="71071" y="193065"/>
                </a:cubicBezTo>
                <a:lnTo>
                  <a:pt x="71071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1204573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518836" y="7843203"/>
            <a:ext cx="4341563" cy="142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Card.jsx merupakan reusable component yang digunakan untuk menampilkan data portofolio menggunakan props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893045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10" y="0"/>
                </a:lnTo>
                <a:lnTo>
                  <a:pt x="271310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542620" y="1963288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0444000" y="4513250"/>
            <a:ext cx="6212264" cy="2977528"/>
          </a:xfrm>
          <a:custGeom>
            <a:avLst/>
            <a:gdLst/>
            <a:ahLst/>
            <a:cxnLst/>
            <a:rect r="r" b="b" t="t" l="l"/>
            <a:pathLst>
              <a:path h="2977528" w="6212264">
                <a:moveTo>
                  <a:pt x="0" y="0"/>
                </a:moveTo>
                <a:lnTo>
                  <a:pt x="6212265" y="0"/>
                </a:lnTo>
                <a:lnTo>
                  <a:pt x="6212265" y="2977528"/>
                </a:lnTo>
                <a:lnTo>
                  <a:pt x="0" y="29775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398" r="0" b="-2818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203814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Portofolio.jsx</a:t>
            </a:r>
          </a:p>
        </p:txBody>
      </p:sp>
      <p:sp>
        <p:nvSpPr>
          <p:cNvPr name="Freeform 52" id="52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>
            <a:off x="11180097" y="7490778"/>
            <a:ext cx="5170178" cy="2447727"/>
          </a:xfrm>
          <a:custGeom>
            <a:avLst/>
            <a:gdLst/>
            <a:ahLst/>
            <a:cxnLst/>
            <a:rect r="r" b="b" t="t" l="l"/>
            <a:pathLst>
              <a:path h="2447727" w="5170178">
                <a:moveTo>
                  <a:pt x="5170178" y="1247497"/>
                </a:moveTo>
                <a:lnTo>
                  <a:pt x="5170178" y="2219127"/>
                </a:lnTo>
                <a:cubicBezTo>
                  <a:pt x="5170178" y="2279756"/>
                  <a:pt x="5146094" y="2337901"/>
                  <a:pt x="5103222" y="2380771"/>
                </a:cubicBezTo>
                <a:cubicBezTo>
                  <a:pt x="5060352" y="2423642"/>
                  <a:pt x="5002207" y="2447727"/>
                  <a:pt x="4941578" y="2447727"/>
                </a:cubicBezTo>
                <a:lnTo>
                  <a:pt x="228600" y="2447727"/>
                </a:lnTo>
                <a:cubicBezTo>
                  <a:pt x="167971" y="2447727"/>
                  <a:pt x="109826" y="2423642"/>
                  <a:pt x="66955" y="2380771"/>
                </a:cubicBezTo>
                <a:cubicBezTo>
                  <a:pt x="24084" y="2337901"/>
                  <a:pt x="0" y="2279756"/>
                  <a:pt x="0" y="2219127"/>
                </a:cubicBezTo>
                <a:lnTo>
                  <a:pt x="0" y="264136"/>
                </a:lnTo>
                <a:cubicBezTo>
                  <a:pt x="0" y="244510"/>
                  <a:pt x="15910" y="228600"/>
                  <a:pt x="35535" y="228600"/>
                </a:cubicBezTo>
                <a:lnTo>
                  <a:pt x="35535" y="228600"/>
                </a:lnTo>
                <a:cubicBezTo>
                  <a:pt x="55161" y="228600"/>
                  <a:pt x="71071" y="212691"/>
                  <a:pt x="71071" y="193065"/>
                </a:cubicBezTo>
                <a:lnTo>
                  <a:pt x="71071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2881528" y="3990547"/>
            <a:ext cx="8233002" cy="5917470"/>
          </a:xfrm>
          <a:custGeom>
            <a:avLst/>
            <a:gdLst/>
            <a:ahLst/>
            <a:cxnLst/>
            <a:rect r="r" b="b" t="t" l="l"/>
            <a:pathLst>
              <a:path h="5917470" w="8233002">
                <a:moveTo>
                  <a:pt x="0" y="0"/>
                </a:moveTo>
                <a:lnTo>
                  <a:pt x="8233003" y="0"/>
                </a:lnTo>
                <a:lnTo>
                  <a:pt x="8233003" y="5917471"/>
                </a:lnTo>
                <a:lnTo>
                  <a:pt x="0" y="59174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206436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518836" y="7843203"/>
            <a:ext cx="4341563" cy="142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Portofolio.jsx digunakan untuk menampilkan data portofolio yang diambil dari backend API menggunakan Axios.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2512476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542620" y="1942950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components berisi komponen reusable yang dapat digunakan kembali pada beberapa bagian website.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720294" cy="3541910"/>
          </a:xfrm>
          <a:custGeom>
            <a:avLst/>
            <a:gdLst/>
            <a:ahLst/>
            <a:cxnLst/>
            <a:rect r="r" b="b" t="t" l="l"/>
            <a:pathLst>
              <a:path h="3541910" w="2720294">
                <a:moveTo>
                  <a:pt x="0" y="0"/>
                </a:moveTo>
                <a:lnTo>
                  <a:pt x="2720293" y="0"/>
                </a:lnTo>
                <a:lnTo>
                  <a:pt x="2720293" y="3541910"/>
                </a:lnTo>
                <a:lnTo>
                  <a:pt x="0" y="354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90" t="-30984" r="-319712" b="-50675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2121626" y="2976151"/>
            <a:ext cx="1988398" cy="932256"/>
          </a:xfrm>
          <a:custGeom>
            <a:avLst/>
            <a:gdLst/>
            <a:ahLst/>
            <a:cxnLst/>
            <a:rect r="r" b="b" t="t" l="l"/>
            <a:pathLst>
              <a:path h="932256" w="1988398">
                <a:moveTo>
                  <a:pt x="0" y="0"/>
                </a:moveTo>
                <a:lnTo>
                  <a:pt x="765599" y="0"/>
                </a:lnTo>
                <a:cubicBezTo>
                  <a:pt x="826227" y="0"/>
                  <a:pt x="884372" y="24084"/>
                  <a:pt x="927243" y="66955"/>
                </a:cubicBezTo>
                <a:cubicBezTo>
                  <a:pt x="970114" y="109826"/>
                  <a:pt x="994199" y="167971"/>
                  <a:pt x="994199" y="228600"/>
                </a:cubicBezTo>
                <a:lnTo>
                  <a:pt x="994199" y="703656"/>
                </a:lnTo>
                <a:cubicBezTo>
                  <a:pt x="994199" y="764284"/>
                  <a:pt x="1018283" y="822430"/>
                  <a:pt x="1061154" y="865301"/>
                </a:cubicBezTo>
                <a:cubicBezTo>
                  <a:pt x="1104025" y="908171"/>
                  <a:pt x="1162170" y="932256"/>
                  <a:pt x="1222799" y="932256"/>
                </a:cubicBezTo>
                <a:lnTo>
                  <a:pt x="1988398" y="932256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854306"/>
                </a:lnTo>
                <a:cubicBezTo>
                  <a:pt x="0" y="980559"/>
                  <a:pt x="102348" y="1082906"/>
                  <a:pt x="228600" y="1082906"/>
                </a:cubicBezTo>
                <a:lnTo>
                  <a:pt x="6682961" y="1082906"/>
                </a:lnTo>
                <a:cubicBezTo>
                  <a:pt x="6742481" y="1082906"/>
                  <a:pt x="6790732" y="1131157"/>
                  <a:pt x="6790732" y="1190677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512476" y="3827310"/>
            <a:ext cx="11301259" cy="6243946"/>
          </a:xfrm>
          <a:custGeom>
            <a:avLst/>
            <a:gdLst/>
            <a:ahLst/>
            <a:cxnLst/>
            <a:rect r="r" b="b" t="t" l="l"/>
            <a:pathLst>
              <a:path h="6243946" w="11301259">
                <a:moveTo>
                  <a:pt x="0" y="0"/>
                </a:moveTo>
                <a:lnTo>
                  <a:pt x="11301259" y="0"/>
                </a:lnTo>
                <a:lnTo>
                  <a:pt x="11301259" y="6243945"/>
                </a:lnTo>
                <a:lnTo>
                  <a:pt x="0" y="62439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711667" y="4448293"/>
            <a:ext cx="6212264" cy="2977528"/>
          </a:xfrm>
          <a:custGeom>
            <a:avLst/>
            <a:gdLst/>
            <a:ahLst/>
            <a:cxnLst/>
            <a:rect r="r" b="b" t="t" l="l"/>
            <a:pathLst>
              <a:path h="2977528" w="6212264">
                <a:moveTo>
                  <a:pt x="0" y="0"/>
                </a:moveTo>
                <a:lnTo>
                  <a:pt x="6212264" y="0"/>
                </a:lnTo>
                <a:lnTo>
                  <a:pt x="6212264" y="2977528"/>
                </a:lnTo>
                <a:lnTo>
                  <a:pt x="0" y="2977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8650" r="0" b="-865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Footer.jsx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2941825" y="6821574"/>
            <a:ext cx="4982106" cy="2358339"/>
          </a:xfrm>
          <a:custGeom>
            <a:avLst/>
            <a:gdLst/>
            <a:ahLst/>
            <a:cxnLst/>
            <a:rect r="r" b="b" t="t" l="l"/>
            <a:pathLst>
              <a:path h="2358339" w="4982106">
                <a:moveTo>
                  <a:pt x="4982106" y="2115515"/>
                </a:moveTo>
                <a:lnTo>
                  <a:pt x="4982106" y="2236927"/>
                </a:lnTo>
                <a:cubicBezTo>
                  <a:pt x="4982106" y="2303981"/>
                  <a:pt x="4927748" y="2358339"/>
                  <a:pt x="4860693" y="2358339"/>
                </a:cubicBezTo>
                <a:lnTo>
                  <a:pt x="228601" y="2358339"/>
                </a:lnTo>
                <a:cubicBezTo>
                  <a:pt x="167972" y="2358339"/>
                  <a:pt x="109826" y="2334255"/>
                  <a:pt x="66955" y="2291384"/>
                </a:cubicBezTo>
                <a:cubicBezTo>
                  <a:pt x="24084" y="2248513"/>
                  <a:pt x="0" y="2190368"/>
                  <a:pt x="0" y="2129739"/>
                </a:cubicBezTo>
                <a:lnTo>
                  <a:pt x="0" y="228600"/>
                </a:lnTo>
                <a:cubicBezTo>
                  <a:pt x="0" y="102348"/>
                  <a:pt x="102348" y="0"/>
                  <a:pt x="228601" y="0"/>
                </a:cubicBezTo>
                <a:lnTo>
                  <a:pt x="1321208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1131117" y="1817164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95831" y="7864073"/>
            <a:ext cx="4341563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Footer.jsx digunakan untuk menampilkan informasi copyright dan sosial media.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469544" y="1963288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77812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10" y="0"/>
                </a:lnTo>
                <a:lnTo>
                  <a:pt x="271310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36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pages berisi halaman utama aplikasi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444107" cy="3508057"/>
          </a:xfrm>
          <a:custGeom>
            <a:avLst/>
            <a:gdLst/>
            <a:ahLst/>
            <a:cxnLst/>
            <a:rect r="r" b="b" t="t" l="l"/>
            <a:pathLst>
              <a:path h="3508057" w="2444107">
                <a:moveTo>
                  <a:pt x="0" y="0"/>
                </a:moveTo>
                <a:lnTo>
                  <a:pt x="2444107" y="0"/>
                </a:lnTo>
                <a:lnTo>
                  <a:pt x="2444107" y="3508057"/>
                </a:lnTo>
                <a:lnTo>
                  <a:pt x="0" y="350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99261" b="-56281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1764673" y="3777011"/>
            <a:ext cx="2341985" cy="257785"/>
          </a:xfrm>
          <a:custGeom>
            <a:avLst/>
            <a:gdLst/>
            <a:ahLst/>
            <a:cxnLst/>
            <a:rect r="r" b="b" t="t" l="l"/>
            <a:pathLst>
              <a:path h="257785" w="2341985">
                <a:moveTo>
                  <a:pt x="0" y="257785"/>
                </a:moveTo>
                <a:lnTo>
                  <a:pt x="2213092" y="257785"/>
                </a:lnTo>
                <a:cubicBezTo>
                  <a:pt x="2247277" y="257785"/>
                  <a:pt x="2280061" y="244206"/>
                  <a:pt x="2304233" y="220034"/>
                </a:cubicBezTo>
                <a:cubicBezTo>
                  <a:pt x="2328405" y="195862"/>
                  <a:pt x="2341985" y="163077"/>
                  <a:pt x="2341985" y="128893"/>
                </a:cubicBezTo>
                <a:lnTo>
                  <a:pt x="2341985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512476" y="3827310"/>
            <a:ext cx="11301259" cy="5862528"/>
          </a:xfrm>
          <a:custGeom>
            <a:avLst/>
            <a:gdLst/>
            <a:ahLst/>
            <a:cxnLst/>
            <a:rect r="r" b="b" t="t" l="l"/>
            <a:pathLst>
              <a:path h="5862528" w="11301259">
                <a:moveTo>
                  <a:pt x="0" y="0"/>
                </a:moveTo>
                <a:lnTo>
                  <a:pt x="11301259" y="0"/>
                </a:lnTo>
                <a:lnTo>
                  <a:pt x="11301259" y="5862528"/>
                </a:lnTo>
                <a:lnTo>
                  <a:pt x="0" y="58625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22" t="-7962" r="-3822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Home.jsx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2373751" y="6578218"/>
            <a:ext cx="5550180" cy="3201545"/>
          </a:xfrm>
          <a:custGeom>
            <a:avLst/>
            <a:gdLst/>
            <a:ahLst/>
            <a:cxnLst/>
            <a:rect r="r" b="b" t="t" l="l"/>
            <a:pathLst>
              <a:path h="3201545" w="5550180">
                <a:moveTo>
                  <a:pt x="5550180" y="2358871"/>
                </a:moveTo>
                <a:lnTo>
                  <a:pt x="5550180" y="2972945"/>
                </a:lnTo>
                <a:cubicBezTo>
                  <a:pt x="5550180" y="3099197"/>
                  <a:pt x="5447833" y="3201545"/>
                  <a:pt x="5321580" y="3201545"/>
                </a:cubicBezTo>
                <a:lnTo>
                  <a:pt x="796675" y="3201545"/>
                </a:lnTo>
                <a:cubicBezTo>
                  <a:pt x="736046" y="3201545"/>
                  <a:pt x="677900" y="3177460"/>
                  <a:pt x="635029" y="3134589"/>
                </a:cubicBezTo>
                <a:cubicBezTo>
                  <a:pt x="592158" y="3091719"/>
                  <a:pt x="568074" y="3033574"/>
                  <a:pt x="568074" y="2972945"/>
                </a:cubicBezTo>
                <a:lnTo>
                  <a:pt x="568074" y="1160299"/>
                </a:lnTo>
                <a:cubicBezTo>
                  <a:pt x="568074" y="1099670"/>
                  <a:pt x="543989" y="1041525"/>
                  <a:pt x="501118" y="998654"/>
                </a:cubicBezTo>
                <a:cubicBezTo>
                  <a:pt x="458248" y="955783"/>
                  <a:pt x="400103" y="931699"/>
                  <a:pt x="339474" y="931699"/>
                </a:cubicBezTo>
                <a:lnTo>
                  <a:pt x="228600" y="931699"/>
                </a:lnTo>
                <a:cubicBezTo>
                  <a:pt x="167971" y="931699"/>
                  <a:pt x="109826" y="907614"/>
                  <a:pt x="66956" y="864743"/>
                </a:cubicBezTo>
                <a:cubicBezTo>
                  <a:pt x="24084" y="821873"/>
                  <a:pt x="0" y="763728"/>
                  <a:pt x="0" y="70309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542620" y="1918806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406965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7702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Pages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95831" y="7864073"/>
            <a:ext cx="4341563" cy="177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Home.jsx merupakan halaman utama website yang menampilkan hero section, layanan jasa, dan portofolio desain.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520489" y="3225028"/>
            <a:ext cx="8052959" cy="36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pages berisi halaman utama aplikasi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444107" cy="3508057"/>
          </a:xfrm>
          <a:custGeom>
            <a:avLst/>
            <a:gdLst/>
            <a:ahLst/>
            <a:cxnLst/>
            <a:rect r="r" b="b" t="t" l="l"/>
            <a:pathLst>
              <a:path h="3508057" w="2444107">
                <a:moveTo>
                  <a:pt x="0" y="0"/>
                </a:moveTo>
                <a:lnTo>
                  <a:pt x="2444107" y="0"/>
                </a:lnTo>
                <a:lnTo>
                  <a:pt x="2444107" y="3508057"/>
                </a:lnTo>
                <a:lnTo>
                  <a:pt x="0" y="350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99261" b="-56281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1764673" y="3777011"/>
            <a:ext cx="2341985" cy="257785"/>
          </a:xfrm>
          <a:custGeom>
            <a:avLst/>
            <a:gdLst/>
            <a:ahLst/>
            <a:cxnLst/>
            <a:rect r="r" b="b" t="t" l="l"/>
            <a:pathLst>
              <a:path h="257785" w="2341985">
                <a:moveTo>
                  <a:pt x="0" y="257785"/>
                </a:moveTo>
                <a:lnTo>
                  <a:pt x="2213092" y="257785"/>
                </a:lnTo>
                <a:cubicBezTo>
                  <a:pt x="2247277" y="257785"/>
                  <a:pt x="2280061" y="244206"/>
                  <a:pt x="2304233" y="220034"/>
                </a:cubicBezTo>
                <a:cubicBezTo>
                  <a:pt x="2328405" y="195862"/>
                  <a:pt x="2341985" y="163077"/>
                  <a:pt x="2341985" y="128893"/>
                </a:cubicBezTo>
                <a:lnTo>
                  <a:pt x="2341985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7" r="0" b="-147"/>
            </a:stretch>
          </a:blipFill>
        </p:spPr>
      </p:sp>
      <p:sp>
        <p:nvSpPr>
          <p:cNvPr name="Freeform 51" id="51"/>
          <p:cNvSpPr/>
          <p:nvPr/>
        </p:nvSpPr>
        <p:spPr>
          <a:xfrm>
            <a:off x="2283351" y="6597268"/>
            <a:ext cx="1823307" cy="442802"/>
          </a:xfrm>
          <a:custGeom>
            <a:avLst/>
            <a:gdLst/>
            <a:ahLst/>
            <a:cxnLst/>
            <a:rect r="r" b="b" t="t" l="l"/>
            <a:pathLst>
              <a:path h="442802" w="1823307">
                <a:moveTo>
                  <a:pt x="0" y="442802"/>
                </a:moveTo>
                <a:lnTo>
                  <a:pt x="690253" y="442802"/>
                </a:lnTo>
                <a:cubicBezTo>
                  <a:pt x="812529" y="442802"/>
                  <a:pt x="911654" y="343677"/>
                  <a:pt x="911654" y="221401"/>
                </a:cubicBezTo>
                <a:lnTo>
                  <a:pt x="911654" y="221401"/>
                </a:lnTo>
                <a:cubicBezTo>
                  <a:pt x="911654" y="99124"/>
                  <a:pt x="1010778" y="0"/>
                  <a:pt x="1133054" y="0"/>
                </a:cubicBezTo>
                <a:lnTo>
                  <a:pt x="1823307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>
            <a:off x="12373751" y="6578218"/>
            <a:ext cx="5550180" cy="2882582"/>
          </a:xfrm>
          <a:custGeom>
            <a:avLst/>
            <a:gdLst/>
            <a:ahLst/>
            <a:cxnLst/>
            <a:rect r="r" b="b" t="t" l="l"/>
            <a:pathLst>
              <a:path h="2882582" w="5550180">
                <a:moveTo>
                  <a:pt x="5550180" y="2358871"/>
                </a:moveTo>
                <a:lnTo>
                  <a:pt x="5550180" y="2653982"/>
                </a:lnTo>
                <a:cubicBezTo>
                  <a:pt x="5550180" y="2780234"/>
                  <a:pt x="5447833" y="2882582"/>
                  <a:pt x="5321580" y="2882582"/>
                </a:cubicBezTo>
                <a:lnTo>
                  <a:pt x="796675" y="2882582"/>
                </a:lnTo>
                <a:cubicBezTo>
                  <a:pt x="736046" y="2882582"/>
                  <a:pt x="677900" y="2858497"/>
                  <a:pt x="635029" y="2815626"/>
                </a:cubicBezTo>
                <a:cubicBezTo>
                  <a:pt x="592158" y="2772756"/>
                  <a:pt x="568074" y="2714611"/>
                  <a:pt x="568074" y="2653982"/>
                </a:cubicBezTo>
                <a:lnTo>
                  <a:pt x="568074" y="1160299"/>
                </a:lnTo>
                <a:cubicBezTo>
                  <a:pt x="568074" y="1099670"/>
                  <a:pt x="543989" y="1041525"/>
                  <a:pt x="501118" y="998654"/>
                </a:cubicBezTo>
                <a:cubicBezTo>
                  <a:pt x="458248" y="955783"/>
                  <a:pt x="400103" y="931699"/>
                  <a:pt x="339474" y="931699"/>
                </a:cubicBezTo>
                <a:lnTo>
                  <a:pt x="228600" y="931699"/>
                </a:lnTo>
                <a:cubicBezTo>
                  <a:pt x="167971" y="931699"/>
                  <a:pt x="109826" y="907614"/>
                  <a:pt x="66956" y="864743"/>
                </a:cubicBezTo>
                <a:cubicBezTo>
                  <a:pt x="24084" y="821873"/>
                  <a:pt x="0" y="763728"/>
                  <a:pt x="0" y="70309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542620" y="1918806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32207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3473769" y="3777011"/>
            <a:ext cx="4773089" cy="6116163"/>
          </a:xfrm>
          <a:custGeom>
            <a:avLst/>
            <a:gdLst/>
            <a:ahLst/>
            <a:cxnLst/>
            <a:rect r="r" b="b" t="t" l="l"/>
            <a:pathLst>
              <a:path h="6116163" w="4773089">
                <a:moveTo>
                  <a:pt x="0" y="0"/>
                </a:moveTo>
                <a:lnTo>
                  <a:pt x="4773089" y="0"/>
                </a:lnTo>
                <a:lnTo>
                  <a:pt x="4773089" y="6116163"/>
                </a:lnTo>
                <a:lnTo>
                  <a:pt x="0" y="61161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62584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Konsultasi.jsx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7702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Pages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95831" y="7864073"/>
            <a:ext cx="4341563" cy="142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Konsultasi.jsx digunakan untuk menampilkan form konsultasi desain yang terhubung ke backend API menggunakan Axios.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7577743" y="4298044"/>
            <a:ext cx="5376983" cy="4312064"/>
          </a:xfrm>
          <a:custGeom>
            <a:avLst/>
            <a:gdLst/>
            <a:ahLst/>
            <a:cxnLst/>
            <a:rect r="r" b="b" t="t" l="l"/>
            <a:pathLst>
              <a:path h="4312064" w="5376983">
                <a:moveTo>
                  <a:pt x="0" y="0"/>
                </a:moveTo>
                <a:lnTo>
                  <a:pt x="5376983" y="0"/>
                </a:lnTo>
                <a:lnTo>
                  <a:pt x="5376983" y="4312064"/>
                </a:lnTo>
                <a:lnTo>
                  <a:pt x="0" y="43120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59783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615679" y="2955084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src merupakan folder utama pada project React JS yang berisi seluruh source code aplikasi.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444107" cy="3508057"/>
          </a:xfrm>
          <a:custGeom>
            <a:avLst/>
            <a:gdLst/>
            <a:ahLst/>
            <a:cxnLst/>
            <a:rect r="r" b="b" t="t" l="l"/>
            <a:pathLst>
              <a:path h="3508057" w="2444107">
                <a:moveTo>
                  <a:pt x="0" y="0"/>
                </a:moveTo>
                <a:lnTo>
                  <a:pt x="2444107" y="0"/>
                </a:lnTo>
                <a:lnTo>
                  <a:pt x="2444107" y="3508057"/>
                </a:lnTo>
                <a:lnTo>
                  <a:pt x="0" y="350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12011" b="-61271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1589442" y="3731347"/>
            <a:ext cx="2517216" cy="45664"/>
          </a:xfrm>
          <a:custGeom>
            <a:avLst/>
            <a:gdLst/>
            <a:ahLst/>
            <a:cxnLst/>
            <a:rect r="r" b="b" t="t" l="l"/>
            <a:pathLst>
              <a:path h="45664" w="2517216">
                <a:moveTo>
                  <a:pt x="0" y="0"/>
                </a:moveTo>
                <a:lnTo>
                  <a:pt x="0" y="22832"/>
                </a:lnTo>
                <a:cubicBezTo>
                  <a:pt x="0" y="35442"/>
                  <a:pt x="10222" y="45664"/>
                  <a:pt x="22832" y="45664"/>
                </a:cubicBezTo>
                <a:lnTo>
                  <a:pt x="2517216" y="45664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2512476" y="3990547"/>
            <a:ext cx="11301259" cy="5297465"/>
          </a:xfrm>
          <a:custGeom>
            <a:avLst/>
            <a:gdLst/>
            <a:ahLst/>
            <a:cxnLst/>
            <a:rect r="r" b="b" t="t" l="l"/>
            <a:pathLst>
              <a:path h="5297465" w="11301259">
                <a:moveTo>
                  <a:pt x="0" y="0"/>
                </a:moveTo>
                <a:lnTo>
                  <a:pt x="11301259" y="0"/>
                </a:lnTo>
                <a:lnTo>
                  <a:pt x="11301259" y="5297465"/>
                </a:lnTo>
                <a:lnTo>
                  <a:pt x="0" y="5297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22" t="-7962" r="-3822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2373751" y="6578218"/>
            <a:ext cx="5550180" cy="3201545"/>
          </a:xfrm>
          <a:custGeom>
            <a:avLst/>
            <a:gdLst/>
            <a:ahLst/>
            <a:cxnLst/>
            <a:rect r="r" b="b" t="t" l="l"/>
            <a:pathLst>
              <a:path h="3201545" w="5550180">
                <a:moveTo>
                  <a:pt x="5550180" y="2358871"/>
                </a:moveTo>
                <a:lnTo>
                  <a:pt x="5550180" y="2972945"/>
                </a:lnTo>
                <a:cubicBezTo>
                  <a:pt x="5550180" y="3099197"/>
                  <a:pt x="5447833" y="3201545"/>
                  <a:pt x="5321580" y="3201545"/>
                </a:cubicBezTo>
                <a:lnTo>
                  <a:pt x="796675" y="3201545"/>
                </a:lnTo>
                <a:cubicBezTo>
                  <a:pt x="736046" y="3201545"/>
                  <a:pt x="677900" y="3177460"/>
                  <a:pt x="635029" y="3134589"/>
                </a:cubicBezTo>
                <a:cubicBezTo>
                  <a:pt x="592158" y="3091719"/>
                  <a:pt x="568074" y="3033574"/>
                  <a:pt x="568074" y="2972945"/>
                </a:cubicBezTo>
                <a:lnTo>
                  <a:pt x="568074" y="1160299"/>
                </a:lnTo>
                <a:cubicBezTo>
                  <a:pt x="568074" y="1099670"/>
                  <a:pt x="543989" y="1041525"/>
                  <a:pt x="501118" y="998654"/>
                </a:cubicBezTo>
                <a:cubicBezTo>
                  <a:pt x="458248" y="955783"/>
                  <a:pt x="400103" y="931699"/>
                  <a:pt x="339474" y="931699"/>
                </a:cubicBezTo>
                <a:lnTo>
                  <a:pt x="228600" y="931699"/>
                </a:lnTo>
                <a:cubicBezTo>
                  <a:pt x="167971" y="931699"/>
                  <a:pt x="109826" y="907614"/>
                  <a:pt x="66956" y="864743"/>
                </a:cubicBezTo>
                <a:cubicBezTo>
                  <a:pt x="24084" y="821873"/>
                  <a:pt x="0" y="763728"/>
                  <a:pt x="0" y="70309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542620" y="1918806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406965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7702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src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95831" y="7864073"/>
            <a:ext cx="4341563" cy="177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App.jsx digunakan untuk mengatur routing atau navigasi antar halaman pada aplikasi React menggunakan React Router DOM.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615679" y="2955084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src merupakan folder utama pada project React JS yang berisi seluruh source code aplikasi.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444107" cy="3508057"/>
          </a:xfrm>
          <a:custGeom>
            <a:avLst/>
            <a:gdLst/>
            <a:ahLst/>
            <a:cxnLst/>
            <a:rect r="r" b="b" t="t" l="l"/>
            <a:pathLst>
              <a:path h="3508057" w="2444107">
                <a:moveTo>
                  <a:pt x="0" y="0"/>
                </a:moveTo>
                <a:lnTo>
                  <a:pt x="2444107" y="0"/>
                </a:lnTo>
                <a:lnTo>
                  <a:pt x="2444107" y="3508057"/>
                </a:lnTo>
                <a:lnTo>
                  <a:pt x="0" y="350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12011" b="-61271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1589442" y="3731347"/>
            <a:ext cx="2517216" cy="45664"/>
          </a:xfrm>
          <a:custGeom>
            <a:avLst/>
            <a:gdLst/>
            <a:ahLst/>
            <a:cxnLst/>
            <a:rect r="r" b="b" t="t" l="l"/>
            <a:pathLst>
              <a:path h="45664" w="2517216">
                <a:moveTo>
                  <a:pt x="0" y="0"/>
                </a:moveTo>
                <a:lnTo>
                  <a:pt x="0" y="22832"/>
                </a:lnTo>
                <a:cubicBezTo>
                  <a:pt x="0" y="35442"/>
                  <a:pt x="10222" y="45664"/>
                  <a:pt x="22832" y="45664"/>
                </a:cubicBezTo>
                <a:lnTo>
                  <a:pt x="2517216" y="45664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2634275" y="3731348"/>
            <a:ext cx="13716000" cy="4612005"/>
          </a:xfrm>
          <a:custGeom>
            <a:avLst/>
            <a:gdLst/>
            <a:ahLst/>
            <a:cxnLst/>
            <a:rect r="r" b="b" t="t" l="l"/>
            <a:pathLst>
              <a:path h="4612005" w="13716000">
                <a:moveTo>
                  <a:pt x="0" y="0"/>
                </a:moveTo>
                <a:lnTo>
                  <a:pt x="13716000" y="0"/>
                </a:lnTo>
                <a:lnTo>
                  <a:pt x="13716000" y="4612005"/>
                </a:lnTo>
                <a:lnTo>
                  <a:pt x="0" y="46120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22" t="-7962" r="-3822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Main.jsx</a:t>
            </a:r>
          </a:p>
        </p:txBody>
      </p:sp>
      <p:sp>
        <p:nvSpPr>
          <p:cNvPr name="Freeform 53" id="53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2373751" y="6578218"/>
            <a:ext cx="5550180" cy="2358871"/>
          </a:xfrm>
          <a:custGeom>
            <a:avLst/>
            <a:gdLst/>
            <a:ahLst/>
            <a:cxnLst/>
            <a:rect r="r" b="b" t="t" l="l"/>
            <a:pathLst>
              <a:path h="2358871" w="5550180">
                <a:moveTo>
                  <a:pt x="5550180" y="2358871"/>
                </a:moveTo>
                <a:lnTo>
                  <a:pt x="796675" y="2358871"/>
                </a:lnTo>
                <a:cubicBezTo>
                  <a:pt x="736046" y="2358871"/>
                  <a:pt x="677900" y="2334786"/>
                  <a:pt x="635029" y="2291915"/>
                </a:cubicBezTo>
                <a:cubicBezTo>
                  <a:pt x="592158" y="2249045"/>
                  <a:pt x="568074" y="2190899"/>
                  <a:pt x="568074" y="2130271"/>
                </a:cubicBezTo>
                <a:lnTo>
                  <a:pt x="568074" y="1160299"/>
                </a:lnTo>
                <a:cubicBezTo>
                  <a:pt x="568074" y="1099670"/>
                  <a:pt x="543989" y="1041525"/>
                  <a:pt x="501118" y="998654"/>
                </a:cubicBezTo>
                <a:cubicBezTo>
                  <a:pt x="458248" y="955783"/>
                  <a:pt x="400103" y="931699"/>
                  <a:pt x="339474" y="931699"/>
                </a:cubicBezTo>
                <a:lnTo>
                  <a:pt x="228600" y="931699"/>
                </a:lnTo>
                <a:cubicBezTo>
                  <a:pt x="167971" y="931699"/>
                  <a:pt x="109826" y="907614"/>
                  <a:pt x="66956" y="864743"/>
                </a:cubicBezTo>
                <a:cubicBezTo>
                  <a:pt x="24084" y="821873"/>
                  <a:pt x="0" y="763728"/>
                  <a:pt x="0" y="70309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542620" y="1918806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406965" y="7067554"/>
            <a:ext cx="271310" cy="271310"/>
          </a:xfrm>
          <a:custGeom>
            <a:avLst/>
            <a:gdLst/>
            <a:ahLst/>
            <a:cxnLst/>
            <a:rect r="r" b="b" t="t" l="l"/>
            <a:pathLst>
              <a:path h="271310" w="271310">
                <a:moveTo>
                  <a:pt x="0" y="0"/>
                </a:moveTo>
                <a:lnTo>
                  <a:pt x="271309" y="0"/>
                </a:lnTo>
                <a:lnTo>
                  <a:pt x="271309" y="271310"/>
                </a:lnTo>
                <a:lnTo>
                  <a:pt x="0" y="2713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7702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src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195831" y="7864073"/>
            <a:ext cx="4341563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main.jsx merupakan entry point utama React untuk menjalankan aplikasi.”</a:t>
            </a:r>
          </a:p>
        </p:txBody>
      </p: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615679" y="2955084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Folder src merupakan folder utama pada project React JS yang berisi seluruh source code aplikasi.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42620" y="2677338"/>
            <a:ext cx="2444107" cy="3508057"/>
          </a:xfrm>
          <a:custGeom>
            <a:avLst/>
            <a:gdLst/>
            <a:ahLst/>
            <a:cxnLst/>
            <a:rect r="r" b="b" t="t" l="l"/>
            <a:pathLst>
              <a:path h="3508057" w="2444107">
                <a:moveTo>
                  <a:pt x="0" y="0"/>
                </a:moveTo>
                <a:lnTo>
                  <a:pt x="2444107" y="0"/>
                </a:lnTo>
                <a:lnTo>
                  <a:pt x="2444107" y="3508057"/>
                </a:lnTo>
                <a:lnTo>
                  <a:pt x="0" y="3508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12011" b="-61271"/>
            </a:stretch>
          </a:blipFill>
        </p:spPr>
      </p:sp>
      <p:sp>
        <p:nvSpPr>
          <p:cNvPr name="Freeform 48" id="48"/>
          <p:cNvSpPr/>
          <p:nvPr/>
        </p:nvSpPr>
        <p:spPr>
          <a:xfrm>
            <a:off x="1589442" y="3731347"/>
            <a:ext cx="2517216" cy="45664"/>
          </a:xfrm>
          <a:custGeom>
            <a:avLst/>
            <a:gdLst/>
            <a:ahLst/>
            <a:cxnLst/>
            <a:rect r="r" b="b" t="t" l="l"/>
            <a:pathLst>
              <a:path h="45664" w="2517216">
                <a:moveTo>
                  <a:pt x="0" y="0"/>
                </a:moveTo>
                <a:lnTo>
                  <a:pt x="0" y="22832"/>
                </a:lnTo>
                <a:cubicBezTo>
                  <a:pt x="0" y="35442"/>
                  <a:pt x="10222" y="45664"/>
                  <a:pt x="22832" y="45664"/>
                </a:cubicBezTo>
                <a:lnTo>
                  <a:pt x="2517216" y="45664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22" t="-7962" r="-3822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803516" y="697093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style.css</a:t>
            </a:r>
          </a:p>
        </p:txBody>
      </p:sp>
      <p:sp>
        <p:nvSpPr>
          <p:cNvPr name="Freeform 52" id="52"/>
          <p:cNvSpPr/>
          <p:nvPr/>
        </p:nvSpPr>
        <p:spPr>
          <a:xfrm>
            <a:off x="2512476" y="6578218"/>
            <a:ext cx="1196492" cy="644041"/>
          </a:xfrm>
          <a:custGeom>
            <a:avLst/>
            <a:gdLst/>
            <a:ahLst/>
            <a:cxnLst/>
            <a:rect r="r" b="b" t="t" l="l"/>
            <a:pathLst>
              <a:path h="644041" w="1196492">
                <a:moveTo>
                  <a:pt x="0" y="644041"/>
                </a:moveTo>
                <a:lnTo>
                  <a:pt x="238067" y="644041"/>
                </a:lnTo>
                <a:cubicBezTo>
                  <a:pt x="298695" y="644041"/>
                  <a:pt x="356841" y="619957"/>
                  <a:pt x="399711" y="577086"/>
                </a:cubicBezTo>
                <a:cubicBezTo>
                  <a:pt x="442582" y="534215"/>
                  <a:pt x="466667" y="476070"/>
                  <a:pt x="466667" y="415441"/>
                </a:cubicBezTo>
                <a:lnTo>
                  <a:pt x="466667" y="228600"/>
                </a:lnTo>
                <a:cubicBezTo>
                  <a:pt x="466667" y="167971"/>
                  <a:pt x="490751" y="109826"/>
                  <a:pt x="533622" y="66955"/>
                </a:cubicBezTo>
                <a:cubicBezTo>
                  <a:pt x="576493" y="24084"/>
                  <a:pt x="634638" y="0"/>
                  <a:pt x="695267" y="0"/>
                </a:cubicBezTo>
                <a:lnTo>
                  <a:pt x="1196492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>
            <a:off x="12373751" y="6578218"/>
            <a:ext cx="5550180" cy="2814004"/>
          </a:xfrm>
          <a:custGeom>
            <a:avLst/>
            <a:gdLst/>
            <a:ahLst/>
            <a:cxnLst/>
            <a:rect r="r" b="b" t="t" l="l"/>
            <a:pathLst>
              <a:path h="2814004" w="5550180">
                <a:moveTo>
                  <a:pt x="5550180" y="2358871"/>
                </a:moveTo>
                <a:lnTo>
                  <a:pt x="5550180" y="2586437"/>
                </a:lnTo>
                <a:cubicBezTo>
                  <a:pt x="5550180" y="2712119"/>
                  <a:pt x="5448294" y="2814004"/>
                  <a:pt x="5322614" y="2814004"/>
                </a:cubicBezTo>
                <a:lnTo>
                  <a:pt x="796675" y="2814004"/>
                </a:lnTo>
                <a:cubicBezTo>
                  <a:pt x="670422" y="2814004"/>
                  <a:pt x="568074" y="2711656"/>
                  <a:pt x="568074" y="2585404"/>
                </a:cubicBezTo>
                <a:lnTo>
                  <a:pt x="568074" y="1160299"/>
                </a:lnTo>
                <a:cubicBezTo>
                  <a:pt x="568074" y="1099670"/>
                  <a:pt x="543989" y="1041525"/>
                  <a:pt x="501118" y="998654"/>
                </a:cubicBezTo>
                <a:cubicBezTo>
                  <a:pt x="458248" y="955783"/>
                  <a:pt x="400103" y="931699"/>
                  <a:pt x="339474" y="931699"/>
                </a:cubicBezTo>
                <a:lnTo>
                  <a:pt x="228600" y="931699"/>
                </a:lnTo>
                <a:cubicBezTo>
                  <a:pt x="167971" y="931699"/>
                  <a:pt x="109826" y="907614"/>
                  <a:pt x="66956" y="864743"/>
                </a:cubicBezTo>
                <a:cubicBezTo>
                  <a:pt x="24084" y="821873"/>
                  <a:pt x="0" y="763728"/>
                  <a:pt x="0" y="703099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542620" y="1918806"/>
            <a:ext cx="559156" cy="450375"/>
          </a:xfrm>
          <a:custGeom>
            <a:avLst/>
            <a:gdLst/>
            <a:ahLst/>
            <a:cxnLst/>
            <a:rect r="r" b="b" t="t" l="l"/>
            <a:pathLst>
              <a:path h="450375" w="559156">
                <a:moveTo>
                  <a:pt x="0" y="0"/>
                </a:moveTo>
                <a:lnTo>
                  <a:pt x="559156" y="0"/>
                </a:lnTo>
                <a:lnTo>
                  <a:pt x="559156" y="450375"/>
                </a:lnTo>
                <a:lnTo>
                  <a:pt x="0" y="450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177020" y="1812288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src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95831" y="7864073"/>
            <a:ext cx="4341563" cy="142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style.css digunakan untuk mengatur tampilan website agar lebih modern, responsive, dan sesuai tema desain.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2620" y="6989984"/>
            <a:ext cx="5810903" cy="4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2D6F"/>
                </a:solidFill>
                <a:latin typeface="Archivo Black"/>
                <a:ea typeface="Archivo Black"/>
                <a:cs typeface="Archivo Black"/>
                <a:sym typeface="Archivo Black"/>
              </a:rPr>
              <a:t>#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615679" y="3923872"/>
            <a:ext cx="4341563" cy="30693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@import url('https://fonts.googleapis.com/css2?family=Poppins:wght@300;400;500;600;700&amp;display=swap');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:root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--primary: #7b2ff7;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--secondary: #FEC046;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--black: #111111;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--white: #ffffff;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--gray: #f8f9fa;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--text-main: #333333;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--text-muted: #666666;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--transition: all 0.3s cubic-bezier(0.4, 0, 0.2, 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--shadow: 0 10px 30px rgba(0, 0, 0, 0.05);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--radius: 12px;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box-sizing: border-box;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body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font-family: 'Poppins', sans-serif;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background-color: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var(--text-main);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line-height: 1.6;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overflow-x: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NAVBAR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space-between;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20px 8%;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rgba(255, 255, 255, 0.8);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backdrop-filter: blur(10px);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sticky;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top: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z-index: 1000;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border-bottom: 1px solid rgba(0, 0, 0, 0.05);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h2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700;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letter-spacing: -0.5px;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h2 span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margin-left: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text-decoration: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var(--text-main);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relative;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content: '';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absolute;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bottom: -5px;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left: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a:hover::after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HERO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120px 8% 80px;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1000px;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.logo-img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24px;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filter: drop-shadow(0 5px 15px rgba(123, 47, 247, 0.2));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h1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clamp(2.5rem, 5vw, 4rem);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800;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line-height: 1.1;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letter-spacing: -1px;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var(--text-muted);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600px;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BUTTON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.btn-primary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linear-gradient(135deg, var(--primary), #9d5fff);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white;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16px 36px;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600;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cursor: pointer;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10px 20px rgba(123, 47, 247, 0.3);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inline-block;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text-decoration: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.btn-primary:hover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translateY(-3px);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15px 30px rgba(123, 47, 247, 0.4);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SECTION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100px 8%;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h2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2.2rem;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700;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relative;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h2::after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content: '';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4px;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var(--secondary);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15px auto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GRID LAYOUT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grid;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grid-template-columns: repeat(auto-fit, minmax(280px, 1fr));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SERVICE CARD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40px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h3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15px;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var(--text-muted);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PORTOFOLIO CARD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5px 15px rgba(0, 0, 0, 0.03);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.img-container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aspect-ratio: 1 / 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object-fit: cover;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.card:hover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scale(1.05);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h3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600;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PORTFOLIO SPECIFIC OVERRIDES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grid-template-columns: repeat(2, 1fr) !important;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900px;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.card .img-container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aspect-ratio: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min-height: 200px;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#fafafa;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.card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object-fit: contain;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max-height: 400px;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ABOUT SECTION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.about-content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800px;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.about-content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.about-features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flex-wrap: wrap;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list-style: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.about-features li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var(--gray);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10px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8px;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FOOTER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80px 8%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.footer-logo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filter: brightness(0) invert(1);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opacity: 0.6;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45px;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45px;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rgba(255, 255, 255, 0.1);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a:hover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translateY(-5px);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5px 15px rgba(255, 255, 255, 0.2);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/* Removed white filter to show original brand colors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RESPONSIVE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@media (max-width: 768px)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nav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15px 5%;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section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60px 5%;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.hero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80px 5%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.hero h1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font-size: 2.5rem;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.portfolio-grid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grid-template-columns: 1fr !important;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FORM KONSULTASI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.konsultasi-container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600px;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label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8px;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input,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select,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14px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2px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12px;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font-family: inherit;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#fafafa;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input:focus,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select:focus,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textarea:focus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outline: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0 0 4px rgba(123, 47, 247, 0.1);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120px;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resize: vertical;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.btn-full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@import url('https://fonts.googleapis.com/css2?family=Poppins:wght@300;400;500;600;700&amp;display=swap');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:root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--primary: #7b2ff7;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--secondary: #FEC046;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--black: #111111;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--white: #ffffff;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--gray: #f8f9fa;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--text-main: #333333;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--text-muted: #666666;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--transition: all 0.3s cubic-bezier(0.4, 0, 0.2, 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--shadow: 0 10px 30px rgba(0, 0, 0, 0.05);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--radius: 12px;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*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box-sizing: border-box;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body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font-family: 'Poppins', sans-serif;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background-color: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var(--text-main);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line-height: 1.6;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overflow-x: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NAVBAR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space-between;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20px 8%;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rgba(255, 255, 255, 0.8);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backdrop-filter: blur(10px);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sticky;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top: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z-index: 1000;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border-bottom: 1px solid rgba(0, 0, 0, 0.05);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h2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700;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letter-spacing: -0.5px;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h2 span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margin-left: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text-decoration: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var(--text-main);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relative;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content: '';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absolute;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bottom: -5px;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left: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nav .nav-links a:hover::after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HERO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120px 8% 80px;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1000px;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.logo-img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24px;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filter: drop-shadow(0 5px 15px rgba(123, 47, 247, 0.2));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h1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clamp(2.5rem, 5vw, 4rem);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800;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line-height: 1.1;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letter-spacing: -1px;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.hero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var(--text-muted);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600px;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BUTTON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.btn-primary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linear-gradient(135deg, var(--primary), #9d5fff);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white;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16px 36px;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600;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cursor: pointer;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10px 20px rgba(123, 47, 247, 0.3);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inline-block;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text-decoration: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.btn-primary:hover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translateY(-3px);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15px 30px rgba(123, 47, 247, 0.4);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SECTION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100px 8%;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h2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2.2rem;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700;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position: relative;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section h2::after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content: '';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4px;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var(--secondary);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15px auto 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GRID LAYOUT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grid;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grid-template-columns: repeat(auto-fit, minmax(280px, 1fr));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SERVICE CARD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40px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h3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15px;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.service-card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var(--text-muted);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PORTOFOLIO CARD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5px 15px rgba(0, 0, 0, 0.03);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translateY(-10px);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.img-container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aspect-ratio: 1 / 1;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overflow: hidden;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object-fit: cover;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.card:hover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scale(1.05);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.card h3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600;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PORTFOLIO SPECIFIC OVERRIDES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grid-template-columns: repeat(2, 1fr) !important;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900px;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.card .img-container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aspect-ratio: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min-height: 200px;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#fafafa;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.portfolio-grid .card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object-fit: contain;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max-height: 400px;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ABOUT SECTION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.about-content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800px;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.about-content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1.1rem;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.about-features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flex-wrap: wrap;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list-style: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.about-features li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var(--gray);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10px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8px;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FOOTER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80px 8%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.footer-logo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filter: brightness(0) invert(1);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footer 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opacity: 0.6;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30px;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gap: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flex;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align-items: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justify-content: center;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45px;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45px;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rgba(255, 255, 255, 0.1);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50%;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a:hover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transform: translateY(-5px);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5px 15px rgba(255, 255, 255, 0.2);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.social-links img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/* Removed white filter to show original brand colors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RESPONSIVE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@media (max-width: 768px)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nav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15px 5%;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section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60px 5%;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.hero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padding: 80px 5%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.hero h1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font-size: 2.5rem;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.portfolio-grid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grid-template-columns: 1fr !important;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/* FORM KONSULTASI */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.konsultasi-container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max-width: 600px;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margin: 0 auto;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40px;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var(--radius);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var(--shadow);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1px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25px;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label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display: block;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margin-bottom: 8px;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font-weight: 500;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color: var(--black);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0.95rem;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input,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select,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padding: 14px 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border: 2px solid #f0f0f0;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border-radius: 12px;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font-family: inherit;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font-size: 1rem;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transition: var(--transition);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#fafafa;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input:focus,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select:focus,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textarea:focus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outline: none;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border-color: var(--primary);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background: var(--white);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box-shadow: 0 0 0 4px rgba(123, 47, 247, 0.1);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.form-group textarea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height: 120px;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resize: vertical;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.btn-full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width: 100%;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text-align: center;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</p:txBody>
      </p: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744" y="-283567"/>
            <a:ext cx="18663487" cy="1061453"/>
            <a:chOff x="0" y="0"/>
            <a:chExt cx="4915486" cy="279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5486" cy="279560"/>
            </a:xfrm>
            <a:custGeom>
              <a:avLst/>
              <a:gdLst/>
              <a:ahLst/>
              <a:cxnLst/>
              <a:rect r="r" b="b" t="t" l="l"/>
              <a:pathLst>
                <a:path h="279560" w="4915486">
                  <a:moveTo>
                    <a:pt x="0" y="0"/>
                  </a:moveTo>
                  <a:lnTo>
                    <a:pt x="4915486" y="0"/>
                  </a:lnTo>
                  <a:lnTo>
                    <a:pt x="4915486" y="279560"/>
                  </a:lnTo>
                  <a:lnTo>
                    <a:pt x="0" y="279560"/>
                  </a:lnTo>
                  <a:close/>
                </a:path>
              </a:pathLst>
            </a:custGeom>
            <a:solidFill>
              <a:srgbClr val="002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15486" cy="3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53230" y="247159"/>
            <a:ext cx="297045" cy="2970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507742" y="247159"/>
            <a:ext cx="297045" cy="2970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62255" y="247159"/>
            <a:ext cx="297045" cy="2970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56265" y="3683051"/>
            <a:ext cx="614993" cy="61499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9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62255" y="7203209"/>
            <a:ext cx="575139" cy="5751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4D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6006" y="2484508"/>
            <a:ext cx="385661" cy="38566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1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839757" y="-1091045"/>
            <a:ext cx="19315501" cy="2182091"/>
            <a:chOff x="0" y="0"/>
            <a:chExt cx="25754001" cy="29094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869351" y="1159765"/>
              <a:ext cx="24884650" cy="1415270"/>
              <a:chOff x="0" y="0"/>
              <a:chExt cx="4915486" cy="2795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15486" cy="279560"/>
              </a:xfrm>
              <a:custGeom>
                <a:avLst/>
                <a:gdLst/>
                <a:ahLst/>
                <a:cxnLst/>
                <a:rect r="r" b="b" t="t" l="l"/>
                <a:pathLst>
                  <a:path h="279560" w="4915486">
                    <a:moveTo>
                      <a:pt x="0" y="0"/>
                    </a:moveTo>
                    <a:lnTo>
                      <a:pt x="4915486" y="0"/>
                    </a:lnTo>
                    <a:lnTo>
                      <a:pt x="4915486" y="279560"/>
                    </a:lnTo>
                    <a:lnTo>
                      <a:pt x="0" y="279560"/>
                    </a:ln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915486" cy="33671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2523982" y="1867400"/>
              <a:ext cx="396060" cy="39606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3129999" y="1867400"/>
              <a:ext cx="396060" cy="396060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736016" y="1867400"/>
              <a:ext cx="396060" cy="396060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69294" lIns="169294" bIns="169294" rIns="169294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050659" cy="2909455"/>
              <a:chOff x="0" y="0"/>
              <a:chExt cx="1969708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697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969708">
                    <a:moveTo>
                      <a:pt x="42175" y="0"/>
                    </a:moveTo>
                    <a:lnTo>
                      <a:pt x="1927533" y="0"/>
                    </a:lnTo>
                    <a:cubicBezTo>
                      <a:pt x="1950826" y="0"/>
                      <a:pt x="1969708" y="18882"/>
                      <a:pt x="1969708" y="42175"/>
                    </a:cubicBezTo>
                    <a:lnTo>
                      <a:pt x="1969708" y="770625"/>
                    </a:lnTo>
                    <a:cubicBezTo>
                      <a:pt x="1969708" y="781811"/>
                      <a:pt x="1965265" y="792538"/>
                      <a:pt x="1957355" y="800447"/>
                    </a:cubicBezTo>
                    <a:cubicBezTo>
                      <a:pt x="1949446" y="808357"/>
                      <a:pt x="1938719" y="812800"/>
                      <a:pt x="1927533" y="812800"/>
                    </a:cubicBezTo>
                    <a:lnTo>
                      <a:pt x="42175" y="812800"/>
                    </a:lnTo>
                    <a:cubicBezTo>
                      <a:pt x="30989" y="812800"/>
                      <a:pt x="20262" y="808357"/>
                      <a:pt x="12353" y="800447"/>
                    </a:cubicBezTo>
                    <a:cubicBezTo>
                      <a:pt x="4443" y="792538"/>
                      <a:pt x="0" y="781811"/>
                      <a:pt x="0" y="770625"/>
                    </a:cubicBezTo>
                    <a:lnTo>
                      <a:pt x="0" y="42175"/>
                    </a:lnTo>
                    <a:cubicBezTo>
                      <a:pt x="0" y="30989"/>
                      <a:pt x="4443" y="20262"/>
                      <a:pt x="12353" y="12353"/>
                    </a:cubicBezTo>
                    <a:cubicBezTo>
                      <a:pt x="20262" y="4443"/>
                      <a:pt x="30989" y="0"/>
                      <a:pt x="42175" y="0"/>
                    </a:cubicBezTo>
                    <a:close/>
                  </a:path>
                </a:pathLst>
              </a:custGeom>
              <a:solidFill>
                <a:srgbClr val="002D6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969708" cy="831850"/>
              </a:xfrm>
              <a:prstGeom prst="rect">
                <a:avLst/>
              </a:prstGeom>
            </p:spPr>
            <p:txBody>
              <a:bodyPr anchor="ctr" rtlCol="false" tIns="162881" lIns="162881" bIns="162881" rIns="162881"/>
              <a:lstStyle/>
              <a:p>
                <a:pPr algn="ctr">
                  <a:lnSpc>
                    <a:spcPts val="1347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613194" y="1780353"/>
              <a:ext cx="30961" cy="906563"/>
            </a:xfrm>
            <a:custGeom>
              <a:avLst/>
              <a:gdLst/>
              <a:ahLst/>
              <a:cxnLst/>
              <a:rect r="r" b="b" t="t" l="l"/>
              <a:pathLst>
                <a:path h="906563" w="30961">
                  <a:moveTo>
                    <a:pt x="0" y="0"/>
                  </a:moveTo>
                  <a:lnTo>
                    <a:pt x="30961" y="0"/>
                  </a:lnTo>
                  <a:lnTo>
                    <a:pt x="30961" y="906563"/>
                  </a:lnTo>
                  <a:lnTo>
                    <a:pt x="0" y="90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858626" y="1962623"/>
              <a:ext cx="675590" cy="648570"/>
            </a:xfrm>
            <a:custGeom>
              <a:avLst/>
              <a:gdLst/>
              <a:ahLst/>
              <a:cxnLst/>
              <a:rect r="r" b="b" t="t" l="l"/>
              <a:pathLst>
                <a:path h="648570" w="675590">
                  <a:moveTo>
                    <a:pt x="0" y="0"/>
                  </a:moveTo>
                  <a:lnTo>
                    <a:pt x="675590" y="0"/>
                  </a:lnTo>
                  <a:lnTo>
                    <a:pt x="675590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340585" y="1962623"/>
              <a:ext cx="659375" cy="648570"/>
            </a:xfrm>
            <a:custGeom>
              <a:avLst/>
              <a:gdLst/>
              <a:ahLst/>
              <a:cxnLst/>
              <a:rect r="r" b="b" t="t" l="l"/>
              <a:pathLst>
                <a:path h="648570" w="659375">
                  <a:moveTo>
                    <a:pt x="0" y="0"/>
                  </a:moveTo>
                  <a:lnTo>
                    <a:pt x="659375" y="0"/>
                  </a:lnTo>
                  <a:lnTo>
                    <a:pt x="659375" y="648570"/>
                  </a:lnTo>
                  <a:lnTo>
                    <a:pt x="0" y="64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118473" y="1979246"/>
              <a:ext cx="626947" cy="632356"/>
            </a:xfrm>
            <a:custGeom>
              <a:avLst/>
              <a:gdLst/>
              <a:ahLst/>
              <a:cxnLst/>
              <a:rect r="r" b="b" t="t" l="l"/>
              <a:pathLst>
                <a:path h="632356" w="626947">
                  <a:moveTo>
                    <a:pt x="0" y="0"/>
                  </a:moveTo>
                  <a:lnTo>
                    <a:pt x="626947" y="0"/>
                  </a:lnTo>
                  <a:lnTo>
                    <a:pt x="626947" y="632356"/>
                  </a:lnTo>
                  <a:lnTo>
                    <a:pt x="0" y="63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743725" y="1953146"/>
              <a:ext cx="3034628" cy="733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STIKOM</a:t>
              </a:r>
              <a:r>
                <a:rPr lang="en-US" b="true" sz="2018" i="true">
                  <a:solidFill>
                    <a:srgbClr val="FFBF1B"/>
                  </a:solidFill>
                  <a:latin typeface="Montserrat Ultra-Bold Italics"/>
                  <a:ea typeface="Montserrat Ultra-Bold Italics"/>
                  <a:cs typeface="Montserrat Ultra-Bold Italics"/>
                  <a:sym typeface="Montserrat Ultra-Bold Italics"/>
                </a:rPr>
                <a:t>PGRI</a:t>
              </a:r>
            </a:p>
            <a:p>
              <a:pPr algn="l">
                <a:lnSpc>
                  <a:spcPts val="1775"/>
                </a:lnSpc>
              </a:pPr>
              <a:r>
                <a:rPr lang="en-US" b="true" sz="2018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BANYUWANGI</a:t>
              </a:r>
            </a:p>
            <a:p>
              <a:pPr algn="l">
                <a:lnSpc>
                  <a:spcPts val="806"/>
                </a:lnSpc>
              </a:pP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66431" y="1838664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PPLP PT-PGRI BANYUWANGI 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6431" y="2529463"/>
              <a:ext cx="1772154" cy="11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9"/>
                </a:lnSpc>
              </a:pP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67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NOVASI, KOLABORASI, AKSI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615679" y="2955084"/>
            <a:ext cx="8052959" cy="72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db.json digunakan sebagai backend API lokal menggunakan json-server</a:t>
            </a:r>
          </a:p>
        </p:txBody>
      </p:sp>
      <p:sp>
        <p:nvSpPr>
          <p:cNvPr name="Freeform 47" id="47"/>
          <p:cNvSpPr/>
          <p:nvPr/>
        </p:nvSpPr>
        <p:spPr>
          <a:xfrm>
            <a:off x="1589442" y="3731347"/>
            <a:ext cx="2517216" cy="45664"/>
          </a:xfrm>
          <a:custGeom>
            <a:avLst/>
            <a:gdLst/>
            <a:ahLst/>
            <a:cxnLst/>
            <a:rect r="r" b="b" t="t" l="l"/>
            <a:pathLst>
              <a:path h="45664" w="2517216">
                <a:moveTo>
                  <a:pt x="0" y="0"/>
                </a:moveTo>
                <a:lnTo>
                  <a:pt x="0" y="22832"/>
                </a:lnTo>
                <a:cubicBezTo>
                  <a:pt x="0" y="35442"/>
                  <a:pt x="10222" y="45664"/>
                  <a:pt x="22832" y="45664"/>
                </a:cubicBezTo>
                <a:lnTo>
                  <a:pt x="2517216" y="45664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>
            <a:off x="4110024" y="3052877"/>
            <a:ext cx="6790732" cy="1298448"/>
          </a:xfrm>
          <a:custGeom>
            <a:avLst/>
            <a:gdLst/>
            <a:ahLst/>
            <a:cxnLst/>
            <a:rect r="r" b="b" t="t" l="l"/>
            <a:pathLst>
              <a:path h="1298448" w="6790732">
                <a:moveTo>
                  <a:pt x="298491" y="0"/>
                </a:moveTo>
                <a:lnTo>
                  <a:pt x="149246" y="0"/>
                </a:lnTo>
                <a:cubicBezTo>
                  <a:pt x="109663" y="0"/>
                  <a:pt x="71702" y="15724"/>
                  <a:pt x="43713" y="43713"/>
                </a:cubicBezTo>
                <a:cubicBezTo>
                  <a:pt x="15724" y="71702"/>
                  <a:pt x="0" y="109663"/>
                  <a:pt x="0" y="149246"/>
                </a:cubicBezTo>
                <a:lnTo>
                  <a:pt x="0" y="495534"/>
                </a:lnTo>
                <a:cubicBezTo>
                  <a:pt x="0" y="621787"/>
                  <a:pt x="102348" y="724134"/>
                  <a:pt x="228600" y="724134"/>
                </a:cubicBezTo>
                <a:lnTo>
                  <a:pt x="6562132" y="724134"/>
                </a:lnTo>
                <a:cubicBezTo>
                  <a:pt x="6688384" y="724134"/>
                  <a:pt x="6790732" y="826482"/>
                  <a:pt x="6790732" y="952734"/>
                </a:cubicBezTo>
                <a:lnTo>
                  <a:pt x="6790732" y="1298448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1711667" y="4448293"/>
            <a:ext cx="6212264" cy="3482455"/>
          </a:xfrm>
          <a:custGeom>
            <a:avLst/>
            <a:gdLst/>
            <a:ahLst/>
            <a:cxnLst/>
            <a:rect r="r" b="b" t="t" l="l"/>
            <a:pathLst>
              <a:path h="3482455" w="6212264">
                <a:moveTo>
                  <a:pt x="0" y="0"/>
                </a:moveTo>
                <a:lnTo>
                  <a:pt x="6212264" y="0"/>
                </a:lnTo>
                <a:lnTo>
                  <a:pt x="6212264" y="3482455"/>
                </a:lnTo>
                <a:lnTo>
                  <a:pt x="0" y="3482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0" r="0" b="-110"/>
            </a:stretch>
          </a:blipFill>
        </p:spPr>
      </p:sp>
      <p:sp>
        <p:nvSpPr>
          <p:cNvPr name="Freeform 50" id="50"/>
          <p:cNvSpPr/>
          <p:nvPr/>
        </p:nvSpPr>
        <p:spPr>
          <a:xfrm>
            <a:off x="11933834" y="6578218"/>
            <a:ext cx="5990096" cy="3173016"/>
          </a:xfrm>
          <a:custGeom>
            <a:avLst/>
            <a:gdLst/>
            <a:ahLst/>
            <a:cxnLst/>
            <a:rect r="r" b="b" t="t" l="l"/>
            <a:pathLst>
              <a:path h="3173016" w="5990096">
                <a:moveTo>
                  <a:pt x="5990097" y="2358871"/>
                </a:moveTo>
                <a:lnTo>
                  <a:pt x="5990097" y="2944416"/>
                </a:lnTo>
                <a:cubicBezTo>
                  <a:pt x="5990097" y="3070668"/>
                  <a:pt x="5887750" y="3173016"/>
                  <a:pt x="5761497" y="3173016"/>
                </a:cubicBezTo>
                <a:lnTo>
                  <a:pt x="228600" y="3173016"/>
                </a:lnTo>
                <a:cubicBezTo>
                  <a:pt x="167972" y="3173016"/>
                  <a:pt x="109826" y="3148932"/>
                  <a:pt x="66956" y="3106061"/>
                </a:cubicBezTo>
                <a:cubicBezTo>
                  <a:pt x="24085" y="3063190"/>
                  <a:pt x="0" y="3005045"/>
                  <a:pt x="0" y="2944416"/>
                </a:cubicBezTo>
                <a:lnTo>
                  <a:pt x="0" y="1151657"/>
                </a:lnTo>
                <a:cubicBezTo>
                  <a:pt x="0" y="1093321"/>
                  <a:pt x="23174" y="1037373"/>
                  <a:pt x="64424" y="996123"/>
                </a:cubicBezTo>
                <a:cubicBezTo>
                  <a:pt x="105675" y="954873"/>
                  <a:pt x="161622" y="931699"/>
                  <a:pt x="219959" y="931699"/>
                </a:cubicBezTo>
                <a:lnTo>
                  <a:pt x="219959" y="931699"/>
                </a:lnTo>
                <a:cubicBezTo>
                  <a:pt x="341438" y="931699"/>
                  <a:pt x="439917" y="833220"/>
                  <a:pt x="439917" y="711741"/>
                </a:cubicBezTo>
                <a:lnTo>
                  <a:pt x="439917" y="0"/>
                </a:lnTo>
              </a:path>
            </a:pathLst>
          </a:custGeom>
          <a:ln cap="flat" w="38100">
            <a:solidFill>
              <a:srgbClr val="FFBF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702317" y="4123245"/>
            <a:ext cx="7009350" cy="10270110"/>
          </a:xfrm>
          <a:custGeom>
            <a:avLst/>
            <a:gdLst/>
            <a:ahLst/>
            <a:cxnLst/>
            <a:rect r="r" b="b" t="t" l="l"/>
            <a:pathLst>
              <a:path h="10270110" w="7009350">
                <a:moveTo>
                  <a:pt x="0" y="0"/>
                </a:moveTo>
                <a:lnTo>
                  <a:pt x="7009350" y="0"/>
                </a:lnTo>
                <a:lnTo>
                  <a:pt x="7009350" y="10270110"/>
                </a:lnTo>
                <a:lnTo>
                  <a:pt x="0" y="10270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522449" y="2974529"/>
            <a:ext cx="9378307" cy="67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5"/>
              </a:lnSpc>
              <a:spcBef>
                <a:spcPct val="0"/>
              </a:spcBef>
            </a:pPr>
            <a:r>
              <a:rPr lang="en-US" sz="3911">
                <a:solidFill>
                  <a:srgbClr val="FFA100"/>
                </a:solidFill>
                <a:latin typeface="Archivo Black"/>
                <a:ea typeface="Archivo Black"/>
                <a:cs typeface="Archivo Black"/>
                <a:sym typeface="Archivo Black"/>
              </a:rPr>
              <a:t>{}db.json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20692" y="8016473"/>
            <a:ext cx="4916701" cy="107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Dengan json-server, file db.json dapat diubah menjadi REST API sederhana untuk kebutuhan frontend React JS.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38521" y="3616376"/>
            <a:ext cx="12183481" cy="2750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"portofolio": [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"1",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1",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"/images/Pl1.svg"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"2",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2",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"/images/pl2.svg"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"3",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3",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"/images/pl3.svg"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"4",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4",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"/images/pl4.svg"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"5",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5",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"/images/pl5.svg"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"6",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Logo 6",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"/images/pl6.svg"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"7",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Brosur 1",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"/images/pb1.svg"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"8",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Brosur 2",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"/images/pb2.svg"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"9",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Brosur 3",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"/images/pb3.svg"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"10",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"title": "Desain Brosur 4",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"image": "/images/pb4.svg"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],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"konsultasi": [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"nama": "rahmat",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"whatsapp": "083117361045",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"jenisDesain": "Brosur",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"deskripsi": "spmb",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"rlbCXu8nhR4"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"nama": "rahmat",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"whatsapp": "083117361045",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"jenisDesain": "Flyer",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"deskripsi": "spmb\n",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"QnPYx8H2hLU"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{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"nama": "ibnu septian",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"whatsapp": "083117361045",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"jenisDesain": "Logo",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"deskripsi": "pt",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  "id": "Xaxq-WPPRtI"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}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],</a:t>
            </a:r>
          </a:p>
          <a:p>
            <a:pPr algn="just">
              <a:lnSpc>
                <a:spcPts val="2800"/>
              </a:lnSpc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"$schema": "./node_modules/json-server/schema.json"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}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DAHJDlm5lwU</dc:identifier>
  <dcterms:modified xsi:type="dcterms:W3CDTF">2011-08-01T06:04:30Z</dcterms:modified>
  <cp:revision>1</cp:revision>
  <dc:title>Juli Abdurahman NIM 1124102175 Frontand</dc:title>
</cp:coreProperties>
</file>